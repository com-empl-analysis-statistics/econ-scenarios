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33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 anchor="b"/>
          <a:lstStyle>
            <a:lvl1pPr algn="l">
              <a:defRPr sz="40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" y="2730500"/>
            <a:ext cx="7112000" cy="15240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EC logo">
            <a:extLst>
              <a:ext uri="{FF2B5EF4-FFF2-40B4-BE49-F238E27FC236}">
                <a16:creationId xmlns:a16="http://schemas.microsoft.com/office/drawing/2014/main" id="{1B48DE5F-155B-F262-B3F8-65BE4F1501B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96000" y="3879228"/>
            <a:ext cx="2667000" cy="9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2"/>
            <a:ext cx="8229600" cy="31813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8" name="EC emblem">
            <a:extLst>
              <a:ext uri="{FF2B5EF4-FFF2-40B4-BE49-F238E27FC236}">
                <a16:creationId xmlns:a16="http://schemas.microsoft.com/office/drawing/2014/main" id="{91FA96DC-FB58-3EDA-0026-DB8BCBB63A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C blue band">
            <a:extLst>
              <a:ext uri="{FF2B5EF4-FFF2-40B4-BE49-F238E27FC236}">
                <a16:creationId xmlns:a16="http://schemas.microsoft.com/office/drawing/2014/main" id="{8C075F88-A38D-F264-5256-14A0ED88B7D5}"/>
              </a:ext>
            </a:extLst>
          </p:cNvPr>
          <p:cNvSpPr/>
          <p:nvPr userDrawn="1"/>
        </p:nvSpPr>
        <p:spPr>
          <a:xfrm>
            <a:off x="0" y="0"/>
            <a:ext cx="9144000" cy="2828925"/>
          </a:xfrm>
          <a:prstGeom prst="rect">
            <a:avLst/>
          </a:prstGeom>
          <a:solidFill>
            <a:srgbClr val="00339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 wrap="square" anchor="t">
            <a:noAutofit/>
          </a:bodyPr>
          <a:lstStyle>
            <a:lvl1pPr algn="l">
              <a:defRPr sz="3600" b="0" cap="none">
                <a:solidFill>
                  <a:srgbClr val="00339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4F3A3487-922E-D64C-6BB7-2B40C1945A9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11" name="EC emblem">
            <a:extLst>
              <a:ext uri="{FF2B5EF4-FFF2-40B4-BE49-F238E27FC236}">
                <a16:creationId xmlns:a16="http://schemas.microsoft.com/office/drawing/2014/main" id="{F3466EB5-C18E-B188-88CD-303D29C413C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7" name="EC emblem">
            <a:extLst>
              <a:ext uri="{FF2B5EF4-FFF2-40B4-BE49-F238E27FC236}">
                <a16:creationId xmlns:a16="http://schemas.microsoft.com/office/drawing/2014/main" id="{0A317759-14A7-66CD-74BD-B0BB971628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6" name="EC emblem">
            <a:extLst>
              <a:ext uri="{FF2B5EF4-FFF2-40B4-BE49-F238E27FC236}">
                <a16:creationId xmlns:a16="http://schemas.microsoft.com/office/drawing/2014/main" id="{833D7A78-EF0B-C776-CA1E-845DC3C6A5F9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04787"/>
            <a:ext cx="8229600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C43B571D-BCB7-4808-A4A6-49C7F10BA7E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b="1" kern="1200" sz="320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800">
          <a:solidFill>
            <a:srgbClr val="404040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creativecommons.org/licenses/by/4.0/" TargetMode="External" /><Relationship Id="rId2" Type="http://schemas.openxmlformats.org/officeDocument/2006/relationships/image" Target="../media/image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Economic scenarios for transformative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304800" y="2730500"/>
            <a:ext cx="7112000" cy="152400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Andrea Blasco, DG JRC </a:t>
            </a:r>
            <a:br/>
            <a:r>
              <a:rPr/>
              <a:t> </a:t>
            </a:r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Thimo De Schouwer, DG EMPL 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 ranging views on how AI will impact the labor market</a:t>
            </a:r>
          </a:p>
          <a:p>
            <a:pPr lvl="1"/>
            <a:r>
              <a:rPr/>
              <a:t>from limited effects on wages, productivity, and employment</a:t>
            </a:r>
          </a:p>
          <a:p>
            <a:pPr lvl="1"/>
            <a:r>
              <a:rPr/>
              <a:t>to a large-scale transformation</a:t>
            </a:r>
          </a:p>
          <a:p>
            <a:pPr lvl="0"/>
            <a:r>
              <a:rPr/>
              <a:t>Antropic built a model that turns a few assumptions into measurable outcomes</a:t>
            </a:r>
          </a:p>
          <a:p>
            <a:pPr lvl="1"/>
            <a:r>
              <a:rPr/>
              <a:t>in particular: paths for GDP / wages / unemployment by 2030</a:t>
            </a:r>
          </a:p>
          <a:p>
            <a:pPr lvl="0"/>
            <a:r>
              <a:rPr/>
              <a:t>We build on their model in two ways:</a:t>
            </a:r>
          </a:p>
          <a:p>
            <a:pPr lvl="1"/>
            <a:r>
              <a:rPr/>
              <a:t>set the parameters to reflect our labor market</a:t>
            </a:r>
          </a:p>
          <a:p>
            <a:pPr lvl="1"/>
            <a:r>
              <a:rPr/>
              <a:t>adjust the assumptions on what AI can </a:t>
            </a:r>
            <a:r>
              <a:rPr i="1"/>
              <a:t>already</a:t>
            </a:r>
            <a:r>
              <a:rPr/>
              <a:t> (and </a:t>
            </a:r>
            <a:r>
              <a:rPr i="1"/>
              <a:t>will</a:t>
            </a:r>
            <a:r>
              <a:rPr/>
              <a:t>) do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model does</a:t>
            </a:r>
          </a:p>
        </p:txBody>
      </p:sp>
      <p:pic>
        <p:nvPicPr>
          <p:cNvPr descr="model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193800"/>
            <a:ext cx="75946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each scenario sets for 2030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197100"/>
                <a:gridCol w="603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work AI can do (replacing or assisting)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that actually done with AI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where AI replaces workers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displaced work returning as new tasks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faster AI does a task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Today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Same in all scenarios:</a:t>
                      </a:r>
                    </a:p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i="1"/>
                        <a:t>AI can do 14% of all work (EU: 12%)</a:t>
                      </a:r>
                    </a:p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i="1"/>
                        <a:t>of that work, 10% is actually done with AI (EU: 6%)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Assumptions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1587500"/>
                <a:gridCol w="1587500"/>
                <a:gridCol w="347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 2030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30 / 50%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 / 28 / 48%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mix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 2030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40 / 60%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/ 24 / 36%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start carried forward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75 / 90%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/ 50 / 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usage share is an upper bound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25 / 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 / 50 / 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 evidence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/ 42 / 57%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 of the tool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European economy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unemployment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 job-finding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quits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wage stickiness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  <a:br/>
            <a:r>
              <a:rPr lang="en-US" dirty="0" sz="2000"/>
              <a:t>Labour Market in 2030 (relative to no-AI)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US Economy</a:t>
            </a:r>
            <a:r>
              <a:rPr/>
              <a:t>: the paper as published</a:t>
            </a:r>
          </a:p>
          <a:p>
            <a:pPr lvl="0"/>
            <a:r>
              <a:rPr lang="en-US" dirty="0">
                <a:solidFill>
                  <a:srgbClr val="FF712C"/>
                </a:solidFill>
              </a:rPr>
              <a:t>EU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Economy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w.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US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Scenarios</a:t>
            </a:r>
            <a:r>
              <a:rPr/>
              <a:t>: European labour market w. US Scenarios</a:t>
            </a:r>
          </a:p>
          <a:p>
            <a:pPr lvl="0"/>
            <a:r>
              <a:rPr lang="en-US" dirty="0">
                <a:solidFill>
                  <a:srgbClr val="003399"/>
                </a:solidFill>
              </a:rPr>
              <a:t>EU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Economy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w.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EMPL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Scenarios</a:t>
            </a:r>
            <a:r>
              <a:rPr/>
              <a:t>: European labour market w. our scenarios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GDP</a:t>
            </a:r>
          </a:p>
        </p:txBody>
      </p:sp>
      <p:pic>
        <p:nvPicPr>
          <p:cNvPr descr="../output/figures/g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wage</a:t>
            </a:r>
          </a:p>
        </p:txBody>
      </p:sp>
      <p:pic>
        <p:nvPicPr>
          <p:cNvPr descr="../output/figures/wage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Unemployment</a:t>
            </a:r>
          </a:p>
        </p:txBody>
      </p:sp>
      <p:pic>
        <p:nvPicPr>
          <p:cNvPr descr="../output/figures/unemploy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employment</a:t>
            </a:r>
          </a:p>
        </p:txBody>
      </p:sp>
      <p:pic>
        <p:nvPicPr>
          <p:cNvPr descr="../output/figures/employment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Labour share</a:t>
            </a:r>
          </a:p>
        </p:txBody>
      </p:sp>
      <p:pic>
        <p:nvPicPr>
          <p:cNvPr descr="../output/figures/labor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Same AI, European labour market: </a:t>
            </a:r>
            <a:r>
              <a:rPr b="1"/>
              <a:t>similar gains, more unemployment</a:t>
            </a:r>
          </a:p>
          <a:p>
            <a:pPr lvl="1"/>
            <a:r>
              <a:rPr/>
              <a:t>stickier cognitive wages and slower hiring turn wage cuts into job losses</a:t>
            </a:r>
          </a:p>
          <a:p>
            <a:pPr lvl="0"/>
            <a:r>
              <a:rPr/>
              <a:t>Our European scenarios: </a:t>
            </a:r>
            <a:r>
              <a:rPr b="1"/>
              <a:t>smaller gains, smaller disruption</a:t>
            </a:r>
          </a:p>
          <a:p>
            <a:pPr lvl="1"/>
            <a:r>
              <a:rPr/>
              <a:t>more new tasks and less automation protect cognitive workers</a:t>
            </a:r>
          </a:p>
          <a:p>
            <a:pPr lvl="1"/>
            <a:r>
              <a:rPr/>
              <a:t>most of the gap is </a:t>
            </a:r>
            <a:r>
              <a:rPr b="1"/>
              <a:t>adoption</a:t>
            </a:r>
            <a:r>
              <a:rPr/>
              <a:t>: Europe starts lower and does not catch up</a:t>
            </a:r>
          </a:p>
          <a:p>
            <a:pPr lvl="0"/>
            <a:r>
              <a:rPr/>
              <a:t>Adoption is the lever</a:t>
            </a:r>
          </a:p>
          <a:p>
            <a:pPr lvl="1"/>
            <a:r>
              <a:rPr/>
              <a:t>ongoing work on why adoption is lower and differs across countries</a:t>
            </a:r>
          </a:p>
          <a:p>
            <a:pPr lvl="0"/>
            <a:r>
              <a:rPr/>
              <a:t>The parameters are </a:t>
            </a:r>
            <a:r>
              <a:rPr b="1"/>
              <a:t>uncertain and open for debate</a:t>
            </a:r>
          </a:p>
          <a:p>
            <a:pPr lvl="1"/>
            <a:r>
              <a:rPr/>
              <a:t>automation share, new tasks and the adoption path are judgement calls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 lang="en-US" dirty="0"/>
              <a:t>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dirty="0" sz="4400">
                <a:solidFill>
                  <a:srgbClr val="003399"/>
                </a:solidFill>
              </a:rPr>
              <a:t>Thank you</a:t>
            </a:r>
          </a:p>
          <a:p>
            <a:pPr lvl="0" indent="0" marL="0">
              <a:buNone/>
            </a:pPr>
            <a:r>
              <a:rPr lang="en-US" dirty="0" sz="4400"/>
              <a:t> </a:t>
            </a:r>
          </a:p>
          <a:p>
            <a:pPr lvl="0" indent="0" marL="0">
              <a:buNone/>
            </a:pPr>
            <a:r>
              <a:rPr lang="en-US" dirty="0" b="1" sz="1300">
                <a:solidFill>
                  <a:srgbClr val="003399"/>
                </a:solidFill>
              </a:rPr>
              <a:t>©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European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Union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2026</a:t>
            </a:r>
          </a:p>
          <a:p>
            <a:pPr lvl="0" indent="0" marL="0">
              <a:buNone/>
            </a:pPr>
            <a:r>
              <a:rPr lang="en-US" dirty="0" sz="1300">
                <a:solidFill>
                  <a:srgbClr val="003399"/>
                </a:solidFill>
              </a:rPr>
              <a:t>Unless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otherwise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presentation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authorised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under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>
                <a:hlinkClick r:id="rId3"/>
              </a:rPr>
              <a:t>​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CC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BY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4.0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license.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any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reproduction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elements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that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are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owned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EU,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permission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may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need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to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sought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directly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from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respective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right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holders.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3399"/>
      </a:hlink>
      <a:folHlink>
        <a:srgbClr val="0033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Economic scenarios for transformative AI</dc:title>
  <dc:creator>;  ; </dc:creator>
  <cp:keywords/>
  <dcterms:created xsi:type="dcterms:W3CDTF">2026-10-27T10:55:45Z</dcterms:created>
  <dcterms:modified xsi:type="dcterms:W3CDTF">2026-10-27T10:55:45Z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revealjs-plugins">
    <vt:lpwstr/>
  </property>
  <property fmtid="{D5CDD505-2E9C-101B-9397-08002B2CF9AE}" pid="10" name="toc-title">
    <vt:lpwstr>Table of contents</vt:lpwstr>
  </property>
</Properties>
</file>