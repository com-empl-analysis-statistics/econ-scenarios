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206499"/>
            <a:ext cx="7112000" cy="1397000"/>
          </a:xfrm>
        </p:spPr>
        <p:txBody>
          <a:bodyPr anchor="b"/>
          <a:lstStyle>
            <a:lvl1pPr algn="l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730500"/>
            <a:ext cx="7112000" cy="15240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EC logo">
            <a:extLst>
              <a:ext uri="{FF2B5EF4-FFF2-40B4-BE49-F238E27FC236}">
                <a16:creationId xmlns:a16="http://schemas.microsoft.com/office/drawing/2014/main" id="{1B48DE5F-155B-F262-B3F8-65BE4F1501B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0" y="3879228"/>
            <a:ext cx="2667000" cy="98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181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8" name="EC emblem">
            <a:extLst>
              <a:ext uri="{FF2B5EF4-FFF2-40B4-BE49-F238E27FC236}">
                <a16:creationId xmlns:a16="http://schemas.microsoft.com/office/drawing/2014/main" id="{91FA96DC-FB58-3EDA-0026-DB8BCBB63AB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C blue band">
            <a:extLst>
              <a:ext uri="{FF2B5EF4-FFF2-40B4-BE49-F238E27FC236}">
                <a16:creationId xmlns:a16="http://schemas.microsoft.com/office/drawing/2014/main" id="{8C075F88-A38D-F264-5256-14A0ED88B7D5}"/>
              </a:ext>
            </a:extLst>
          </p:cNvPr>
          <p:cNvSpPr/>
          <p:nvPr userDrawn="1"/>
        </p:nvSpPr>
        <p:spPr>
          <a:xfrm>
            <a:off x="0" y="0"/>
            <a:ext cx="9144000" cy="2828925"/>
          </a:xfrm>
          <a:prstGeom prst="rect">
            <a:avLst/>
          </a:prstGeom>
          <a:solidFill>
            <a:srgbClr val="00339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57525"/>
            <a:ext cx="7620000" cy="1831975"/>
          </a:xfrm>
        </p:spPr>
        <p:txBody>
          <a:bodyPr wrap="square" anchor="t">
            <a:noAutofit/>
          </a:bodyPr>
          <a:lstStyle>
            <a:lvl1pPr algn="l">
              <a:defRPr sz="3600" b="0" cap="none">
                <a:solidFill>
                  <a:srgbClr val="0033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9" name="EC emblem">
            <a:extLst>
              <a:ext uri="{FF2B5EF4-FFF2-40B4-BE49-F238E27FC236}">
                <a16:creationId xmlns:a16="http://schemas.microsoft.com/office/drawing/2014/main" id="{4F3A3487-922E-D64C-6BB7-2B40C1945A9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11" name="EC emblem">
            <a:extLst>
              <a:ext uri="{FF2B5EF4-FFF2-40B4-BE49-F238E27FC236}">
                <a16:creationId xmlns:a16="http://schemas.microsoft.com/office/drawing/2014/main" id="{F3466EB5-C18E-B188-88CD-303D29C413C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7" name="EC emblem">
            <a:extLst>
              <a:ext uri="{FF2B5EF4-FFF2-40B4-BE49-F238E27FC236}">
                <a16:creationId xmlns:a16="http://schemas.microsoft.com/office/drawing/2014/main" id="{0A317759-14A7-66CD-74BD-B0BB971628B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6" name="EC emblem">
            <a:extLst>
              <a:ext uri="{FF2B5EF4-FFF2-40B4-BE49-F238E27FC236}">
                <a16:creationId xmlns:a16="http://schemas.microsoft.com/office/drawing/2014/main" id="{833D7A78-EF0B-C776-CA1E-845DC3C6A5F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04787"/>
            <a:ext cx="8229600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9" name="EC emblem">
            <a:extLst>
              <a:ext uri="{FF2B5EF4-FFF2-40B4-BE49-F238E27FC236}">
                <a16:creationId xmlns:a16="http://schemas.microsoft.com/office/drawing/2014/main" id="{C43B571D-BCB7-4808-A4A6-49C7F10BA7E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b="1" kern="1200" sz="320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800">
          <a:solidFill>
            <a:srgbClr val="404040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800">
          <a:solidFill>
            <a:srgbClr val="404040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rgbClr val="404040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800">
          <a:solidFill>
            <a:srgbClr val="404040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800">
          <a:solidFill>
            <a:srgbClr val="404040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creativecommons.org/licenses/by/4.0/" TargetMode="Externa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206499"/>
            <a:ext cx="7112000" cy="1397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Economic scenarios for transformative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304800" y="2730500"/>
            <a:ext cx="7112000" cy="152400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 lang="en-US" dirty="0" i="1">
                <a:solidFill>
                  <a:srgbClr val="003399"/>
                </a:solidFill>
                <a:highlight>
                  <a:srgbClr val="FFD34E"/>
                </a:highlight>
              </a:rPr>
              <a:t> Andrea Blasco, DG JRC </a:t>
            </a:r>
            <a:br/>
            <a:r>
              <a:rPr/>
              <a:t> </a:t>
            </a:r>
            <a:br/>
            <a:r>
              <a:rPr lang="en-US" dirty="0" i="1">
                <a:solidFill>
                  <a:srgbClr val="003399"/>
                </a:solidFill>
                <a:highlight>
                  <a:srgbClr val="FFD34E"/>
                </a:highlight>
              </a:rPr>
              <a:t> Thimo De Schouwer, DG EMPL 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Wide ranging views on how AI will impact the labor market</a:t>
            </a:r>
          </a:p>
          <a:p>
            <a:pPr lvl="1"/>
            <a:r>
              <a:rPr/>
              <a:t>from limited effects on wages, productivity, and employment</a:t>
            </a:r>
          </a:p>
          <a:p>
            <a:pPr lvl="1"/>
            <a:r>
              <a:rPr/>
              <a:t>to a large-scale transformation</a:t>
            </a:r>
          </a:p>
          <a:p>
            <a:pPr lvl="0"/>
            <a:r>
              <a:rPr/>
              <a:t>Antropic built a model that turns a few assumptions into measurable outcomes</a:t>
            </a:r>
          </a:p>
          <a:p>
            <a:pPr lvl="1"/>
            <a:r>
              <a:rPr/>
              <a:t>in particular: paths for GDP / wages / unemployment by 2030</a:t>
            </a:r>
          </a:p>
          <a:p>
            <a:pPr lvl="0"/>
            <a:r>
              <a:rPr/>
              <a:t>We change their model in two ways:</a:t>
            </a:r>
          </a:p>
          <a:p>
            <a:pPr lvl="1"/>
            <a:r>
              <a:rPr/>
              <a:t>set the parameters to reflect our labor market</a:t>
            </a:r>
          </a:p>
          <a:p>
            <a:pPr lvl="1"/>
            <a:r>
              <a:rPr/>
              <a:t>adjust the assumptions on what AI can </a:t>
            </a:r>
            <a:r>
              <a:rPr i="1"/>
              <a:t>already</a:t>
            </a:r>
            <a:r>
              <a:rPr/>
              <a:t> and </a:t>
            </a:r>
            <a:r>
              <a:rPr i="1"/>
              <a:t>will be able to</a:t>
            </a:r>
            <a:r>
              <a:rPr/>
              <a:t> do</a:t>
            </a:r>
          </a:p>
          <a:p>
            <a:pPr lvl="2"/>
            <a:r>
              <a:rPr/>
              <a:t>disclaimer: scenarios to explore and not forecasts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57525"/>
            <a:ext cx="7620000" cy="18319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the model does</a:t>
            </a:r>
          </a:p>
        </p:txBody>
      </p:sp>
      <p:pic>
        <p:nvPicPr>
          <p:cNvPr descr="model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193800"/>
            <a:ext cx="72644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57525"/>
            <a:ext cx="7620000" cy="18319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Scenarios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Scenarios Set for 2030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197100"/>
                <a:gridCol w="603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 of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of work AI can do (replacing or assisting)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of that actually done with AI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Effect on tasks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where AI replaces workers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tasks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of displaced work returning as new tasks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Gain per task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much faster AI does a task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Finding new jobs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easily displaced workers get hired in other jobs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Hiring 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quickly firms post vacancies for the workers they want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same in all scenarios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can do 14% of all work (EU: 12%)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 that work, 10% is actually done with AI (EU: 6%)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Scenario Assumptions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727200"/>
                <a:gridCol w="1435100"/>
                <a:gridCol w="3657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 of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 / 30 / 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 / 28 / 48%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occupation mix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 / 40 / 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/ 24 / 36%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lower start carried forward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Effect on tasks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/ 75 / 90%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 / 50 / 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counts iterations as automation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tasks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/ 25 / 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 / 50 / 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historically: more new tasks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Gain per task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 / 42 / 57%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property of the tool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Finding new jobs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/ 6 / 13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differences in retraining 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Hiring 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/ 2.5 / 1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data to estimate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European economy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unemployment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 job-finding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quits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wage stickiness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57525"/>
            <a:ext cx="7620000" cy="18319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  <a:br/>
            <a:r>
              <a:rPr lang="en-US" dirty="0" sz="2000"/>
              <a:t>Labour Market in 2030 (relative to no-AI)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984500"/>
                <a:gridCol w="3086100"/>
                <a:gridCol w="2159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Three sets of 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Economy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Scenarios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 Economy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Korinek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Economy w. US 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Korinek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EU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Economy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w.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EMPL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What if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EU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Economy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w.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US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Adoption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EMPL but US adoption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Outcomes in 2030 (vs. no AI)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GDP, unemployment, labour share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Cognitive workers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wage, employment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GDP</a:t>
            </a:r>
          </a:p>
        </p:txBody>
      </p:sp>
      <p:pic>
        <p:nvPicPr>
          <p:cNvPr descr="../output/figures/gd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37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Unemployment</a:t>
            </a:r>
          </a:p>
        </p:txBody>
      </p:sp>
      <p:pic>
        <p:nvPicPr>
          <p:cNvPr descr="../output/figures/unemploy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37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Labour share</a:t>
            </a:r>
          </a:p>
        </p:txBody>
      </p:sp>
      <p:pic>
        <p:nvPicPr>
          <p:cNvPr descr="../output/figures/labor_sh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37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Cognitive wage</a:t>
            </a:r>
          </a:p>
        </p:txBody>
      </p:sp>
      <p:pic>
        <p:nvPicPr>
          <p:cNvPr descr="../output/figures/wage_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37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Cognitive employment</a:t>
            </a:r>
          </a:p>
        </p:txBody>
      </p:sp>
      <p:pic>
        <p:nvPicPr>
          <p:cNvPr descr="../output/figures/employment_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37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if Europe caught up on adoption?</a:t>
            </a:r>
          </a:p>
        </p:txBody>
      </p:sp>
      <p:pic>
        <p:nvPicPr>
          <p:cNvPr descr="../output/figures/converg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37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552700"/>
                <a:gridCol w="990600"/>
                <a:gridCol w="1155700"/>
                <a:gridCol w="1155700"/>
                <a:gridCol w="238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Each set vs the one above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GDP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Unemployment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Cognitive wages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 Economy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Economy w. US 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similar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fall 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stickier wages, slower hiring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EU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Economy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w.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EMPL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lower adoption, less automation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EU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Economy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w.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US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3399"/>
                          </a:solidFill>
                        </a:rPr>
                        <a:t>Adoption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higher, &lt; 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higher, ≈ 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rise 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faster adoption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ongoing work: why adoption differs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Comparison with the JRC’s EDGE simulation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3416300"/>
                <a:gridCol w="3416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JRC EDGE-EUROMOD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Similar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modest / substantial / high impact by 2030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/ medium / high impact by 2035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Different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AI can do + how much it is used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outcomes</a:t>
                      </a:r>
                      <a:r>
                        <a:rPr/>
                        <a:t> like TFP, wages, unemployment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 + labour market impact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distributional effects of given shock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better AI → more use → jobs adjust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AI → 3.6×* use → 3.6× effects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Mechanisms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sticky wages, job search, switching / re-education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none: effects imposed, not explained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aggregate, two occupation 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DE, ES, PL, SE; age and gender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* growth to full AI use in most exposed jobs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dirty="0" sz="4400">
                <a:solidFill>
                  <a:srgbClr val="003399"/>
                </a:solidFill>
              </a:rPr>
              <a:t>Thank you</a:t>
            </a:r>
          </a:p>
          <a:p>
            <a:pPr lvl="0" indent="0" marL="0">
              <a:buNone/>
            </a:pPr>
            <a:r>
              <a:rPr lang="en-US" dirty="0" sz="4400"/>
              <a:t> </a:t>
            </a:r>
          </a:p>
          <a:p>
            <a:pPr lvl="0" indent="0" marL="0">
              <a:buNone/>
            </a:pPr>
            <a:r>
              <a:rPr lang="en-US" dirty="0" b="1" sz="1300">
                <a:solidFill>
                  <a:srgbClr val="003399"/>
                </a:solidFill>
              </a:rPr>
              <a:t>©</a:t>
            </a:r>
            <a:r>
              <a:rPr lang="en-US" dirty="0" b="1" sz="1300">
                <a:solidFill>
                  <a:srgbClr val="003399"/>
                </a:solidFill>
              </a:rPr>
              <a:t> </a:t>
            </a:r>
            <a:r>
              <a:rPr lang="en-US" dirty="0" b="1" sz="1300">
                <a:solidFill>
                  <a:srgbClr val="003399"/>
                </a:solidFill>
              </a:rPr>
              <a:t>European</a:t>
            </a:r>
            <a:r>
              <a:rPr lang="en-US" dirty="0" b="1" sz="1300">
                <a:solidFill>
                  <a:srgbClr val="003399"/>
                </a:solidFill>
              </a:rPr>
              <a:t> </a:t>
            </a:r>
            <a:r>
              <a:rPr lang="en-US" dirty="0" b="1" sz="1300">
                <a:solidFill>
                  <a:srgbClr val="003399"/>
                </a:solidFill>
              </a:rPr>
              <a:t>Union</a:t>
            </a:r>
            <a:r>
              <a:rPr lang="en-US" dirty="0" b="1" sz="1300">
                <a:solidFill>
                  <a:srgbClr val="003399"/>
                </a:solidFill>
              </a:rPr>
              <a:t> </a:t>
            </a:r>
            <a:r>
              <a:rPr lang="en-US" dirty="0" b="1" sz="1300">
                <a:solidFill>
                  <a:srgbClr val="003399"/>
                </a:solidFill>
              </a:rPr>
              <a:t>2026</a:t>
            </a:r>
          </a:p>
          <a:p>
            <a:pPr lvl="0" indent="0" marL="0">
              <a:buNone/>
            </a:pPr>
            <a:r>
              <a:rPr lang="en-US" dirty="0" sz="1300">
                <a:solidFill>
                  <a:srgbClr val="003399"/>
                </a:solidFill>
              </a:rPr>
              <a:t>Unless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otherwise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noted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the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reuse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of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this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presentation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is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authorised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under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the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>
                <a:hlinkClick r:id="rId3"/>
              </a:rPr>
              <a:t>​</a:t>
            </a:r>
            <a:r>
              <a:rPr lang="en-US" dirty="0" u="sng" sz="1300">
                <a:solidFill>
                  <a:srgbClr val="003399"/>
                </a:solidFill>
                <a:hlinkClick r:id="rId3"/>
              </a:rPr>
              <a:t>CC</a:t>
            </a:r>
            <a:r>
              <a:rPr lang="en-US" dirty="0" u="sng" sz="1300">
                <a:solidFill>
                  <a:srgbClr val="003399"/>
                </a:solidFill>
                <a:hlinkClick r:id="rId3"/>
              </a:rPr>
              <a:t> </a:t>
            </a:r>
            <a:r>
              <a:rPr lang="en-US" dirty="0" u="sng" sz="1300">
                <a:solidFill>
                  <a:srgbClr val="003399"/>
                </a:solidFill>
                <a:hlinkClick r:id="rId3"/>
              </a:rPr>
              <a:t>BY</a:t>
            </a:r>
            <a:r>
              <a:rPr lang="en-US" dirty="0" u="sng" sz="1300">
                <a:solidFill>
                  <a:srgbClr val="003399"/>
                </a:solidFill>
                <a:hlinkClick r:id="rId3"/>
              </a:rPr>
              <a:t> </a:t>
            </a:r>
            <a:r>
              <a:rPr lang="en-US" dirty="0" u="sng" sz="1300">
                <a:solidFill>
                  <a:srgbClr val="003399"/>
                </a:solidFill>
                <a:hlinkClick r:id="rId3"/>
              </a:rPr>
              <a:t>4.0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license.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For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any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use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or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reproduction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of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elements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that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are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not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owned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by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the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EU,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permission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may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need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to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be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sought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directly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from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the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respective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right</a:t>
            </a:r>
            <a:r>
              <a:rPr lang="en-US" dirty="0" sz="1300">
                <a:solidFill>
                  <a:srgbClr val="003399"/>
                </a:solidFill>
              </a:rPr>
              <a:t> </a:t>
            </a:r>
            <a:r>
              <a:rPr lang="en-US" dirty="0" sz="1300">
                <a:solidFill>
                  <a:srgbClr val="003399"/>
                </a:solidFill>
              </a:rPr>
              <a:t>holders.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57525"/>
            <a:ext cx="7620000" cy="18319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adoption starts lower in Europe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0"/>
                <a:gridCol w="990600"/>
                <a:gridCol w="990600"/>
                <a:gridCol w="990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 / 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People, any purpose,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 LLM users, millions, total (A)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Workers,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genAI for work (B)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of work hours with genAI (B)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Firms,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AI, any purpose (C)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 genAI (D)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 AI users: in more than two activities (D)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Our model, today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 of AI-doable work done with AI (E)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(A) Prosus/Dealroom, Europe (B) Bick et al. 2026, EU-5 (C) Eurostat; US Census (D) EIB survey (E) AIM-WORK; Korinek et al.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Other workers gain in every scenario</a:t>
            </a:r>
          </a:p>
        </p:txBody>
      </p:sp>
      <p:pic>
        <p:nvPicPr>
          <p:cNvPr descr="../output/figures/other_work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37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399"/>
      </a:hlink>
      <a:folHlink>
        <a:srgbClr val="0033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scenarios for transformative AI</dc:title>
  <dc:creator>;  ; </dc:creator>
  <cp:keywords/>
  <dcterms:created xsi:type="dcterms:W3CDTF">2026-10-28T14:21:52Z</dcterms:created>
  <dcterms:modified xsi:type="dcterms:W3CDTF">2026-10-28T14:21:52Z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revealjs-plugins">
    <vt:lpwstr/>
  </property>
  <property fmtid="{D5CDD505-2E9C-101B-9397-08002B2CF9AE}" pid="10" name="toc-title">
    <vt:lpwstr>Table of contents</vt:lpwstr>
  </property>
</Properties>
</file>