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339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" y="1206499"/>
            <a:ext cx="7112000" cy="1397000"/>
          </a:xfrm>
        </p:spPr>
        <p:txBody>
          <a:bodyPr anchor="b"/>
          <a:lstStyle>
            <a:lvl1pPr algn="l">
              <a:defRPr sz="40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" y="2730500"/>
            <a:ext cx="7112000" cy="15240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rgbClr val="FFFFFF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8" name="EC logo">
            <a:extLst>
              <a:ext uri="{FF2B5EF4-FFF2-40B4-BE49-F238E27FC236}">
                <a16:creationId xmlns:a16="http://schemas.microsoft.com/office/drawing/2014/main" id="{1B48DE5F-155B-F262-B3F8-65BE4F1501B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96000" y="3879228"/>
            <a:ext cx="2667000" cy="98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2"/>
            <a:ext cx="8229600" cy="31813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8" name="EC emblem">
            <a:extLst>
              <a:ext uri="{FF2B5EF4-FFF2-40B4-BE49-F238E27FC236}">
                <a16:creationId xmlns:a16="http://schemas.microsoft.com/office/drawing/2014/main" id="{91FA96DC-FB58-3EDA-0026-DB8BCBB63ABF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C blue band">
            <a:extLst>
              <a:ext uri="{FF2B5EF4-FFF2-40B4-BE49-F238E27FC236}">
                <a16:creationId xmlns:a16="http://schemas.microsoft.com/office/drawing/2014/main" id="{8C075F88-A38D-F264-5256-14A0ED88B7D5}"/>
              </a:ext>
            </a:extLst>
          </p:cNvPr>
          <p:cNvSpPr/>
          <p:nvPr userDrawn="1"/>
        </p:nvSpPr>
        <p:spPr>
          <a:xfrm>
            <a:off x="0" y="0"/>
            <a:ext cx="9144000" cy="2828925"/>
          </a:xfrm>
          <a:prstGeom prst="rect">
            <a:avLst/>
          </a:prstGeom>
          <a:solidFill>
            <a:srgbClr val="00339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 wrap="square" anchor="t">
            <a:noAutofit/>
          </a:bodyPr>
          <a:lstStyle>
            <a:lvl1pPr algn="l">
              <a:defRPr sz="3600" b="0" cap="none">
                <a:solidFill>
                  <a:srgbClr val="003399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9" name="EC emblem">
            <a:extLst>
              <a:ext uri="{FF2B5EF4-FFF2-40B4-BE49-F238E27FC236}">
                <a16:creationId xmlns:a16="http://schemas.microsoft.com/office/drawing/2014/main" id="{4F3A3487-922E-D64C-6BB7-2B40C1945A9F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11" name="EC emblem">
            <a:extLst>
              <a:ext uri="{FF2B5EF4-FFF2-40B4-BE49-F238E27FC236}">
                <a16:creationId xmlns:a16="http://schemas.microsoft.com/office/drawing/2014/main" id="{F3466EB5-C18E-B188-88CD-303D29C413C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7" name="EC emblem">
            <a:extLst>
              <a:ext uri="{FF2B5EF4-FFF2-40B4-BE49-F238E27FC236}">
                <a16:creationId xmlns:a16="http://schemas.microsoft.com/office/drawing/2014/main" id="{0A317759-14A7-66CD-74BD-B0BB971628BF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6" name="EC emblem">
            <a:extLst>
              <a:ext uri="{FF2B5EF4-FFF2-40B4-BE49-F238E27FC236}">
                <a16:creationId xmlns:a16="http://schemas.microsoft.com/office/drawing/2014/main" id="{833D7A78-EF0B-C776-CA1E-845DC3C6A5F9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04787"/>
            <a:ext cx="8229600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9" name="EC emblem">
            <a:extLst>
              <a:ext uri="{FF2B5EF4-FFF2-40B4-BE49-F238E27FC236}">
                <a16:creationId xmlns:a16="http://schemas.microsoft.com/office/drawing/2014/main" id="{C43B571D-BCB7-4808-A4A6-49C7F10BA7E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b="1" kern="1200" sz="320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00">
          <a:solidFill>
            <a:srgbClr val="404040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800">
          <a:solidFill>
            <a:srgbClr val="404040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rgbClr val="404040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800">
          <a:solidFill>
            <a:srgbClr val="404040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800">
          <a:solidFill>
            <a:srgbClr val="404040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creativecommons.org/licenses/by/4.0/" TargetMode="Externa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" y="1206499"/>
            <a:ext cx="7112000" cy="1397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Economic scenarios for transformative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304800" y="2730500"/>
            <a:ext cx="7112000" cy="152400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 lang="en-US" dirty="0" i="1">
                <a:solidFill>
                  <a:srgbClr val="003399"/>
                </a:solidFill>
                <a:highlight>
                  <a:srgbClr val="FFD34E"/>
                </a:highlight>
              </a:rPr>
              <a:t> Andrea Blasco, DG JRC </a:t>
            </a:r>
            <a:br/>
            <a:r>
              <a:rPr/>
              <a:t> </a:t>
            </a:r>
            <a:br/>
            <a:r>
              <a:rPr lang="en-US" dirty="0" i="1">
                <a:solidFill>
                  <a:srgbClr val="003399"/>
                </a:solidFill>
                <a:highlight>
                  <a:srgbClr val="FFD34E"/>
                </a:highlight>
              </a:rPr>
              <a:t> Thimo De Schouwer, DG EMPL 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 ranging views on how AI will impact the labor market</a:t>
            </a:r>
          </a:p>
          <a:p>
            <a:pPr lvl="1"/>
            <a:r>
              <a:rPr/>
              <a:t>from limited effects on wages, productivity, and employment</a:t>
            </a:r>
          </a:p>
          <a:p>
            <a:pPr lvl="1"/>
            <a:r>
              <a:rPr/>
              <a:t>to a large-scale transformation</a:t>
            </a:r>
          </a:p>
          <a:p>
            <a:pPr lvl="0"/>
            <a:r>
              <a:rPr/>
              <a:t>Antropic built a model that turns a few assumptions into measurable outcomes</a:t>
            </a:r>
          </a:p>
          <a:p>
            <a:pPr lvl="1"/>
            <a:r>
              <a:rPr/>
              <a:t>in particular: paths for GDP / wages / unemployment by 2030</a:t>
            </a:r>
          </a:p>
          <a:p>
            <a:pPr lvl="0"/>
            <a:r>
              <a:rPr/>
              <a:t>We change their model in two ways:</a:t>
            </a:r>
          </a:p>
          <a:p>
            <a:pPr lvl="1"/>
            <a:r>
              <a:rPr/>
              <a:t>set the parameters to reflect our labor market</a:t>
            </a:r>
          </a:p>
          <a:p>
            <a:pPr lvl="1"/>
            <a:r>
              <a:rPr/>
              <a:t>adjust the assumptions on what AI can </a:t>
            </a:r>
            <a:r>
              <a:rPr i="1"/>
              <a:t>already</a:t>
            </a:r>
            <a:r>
              <a:rPr/>
              <a:t> and </a:t>
            </a:r>
            <a:r>
              <a:rPr i="1"/>
              <a:t>will be able to</a:t>
            </a:r>
            <a:r>
              <a:rPr/>
              <a:t> do</a:t>
            </a:r>
          </a:p>
          <a:p>
            <a:pPr lvl="2"/>
            <a:r>
              <a:rPr/>
              <a:t>disclaimer: scenarios to explore and not forecasts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model does</a:t>
            </a:r>
          </a:p>
        </p:txBody>
      </p:sp>
      <p:pic>
        <p:nvPicPr>
          <p:cNvPr descr="model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193800"/>
            <a:ext cx="72644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Scenarios Set for 2030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197100"/>
                <a:gridCol w="6032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Use of 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Capability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work AI can do (replacing or assisting)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that actually done with AI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Effect on tasks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where AI replaces workers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tasks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displaced work returning as new tasks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Gain per task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faster AI does a task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Finding new jobs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easily displaced workers get hired in other jobs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Hiring speed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quickly firms post vacancies for the workers they want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same in all 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Capability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can do 14% of all work (EU: 12%)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of that work, 10% is actually done with AI (EU: 6%)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 Assumptions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727200"/>
                <a:gridCol w="1435100"/>
                <a:gridCol w="36576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Use of 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Capability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 / 30 / 50%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 / 28 / 48%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occupation mix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 / 40 / 60%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/ 24 / 36%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lower start carried forward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Effect on tasks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/ 75 / 90%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/ 50 / 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counts iterations as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tasks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/ 25 / 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 / 50 / 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historically: more new tasks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Gain per task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 / 42 / 57%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 of the tool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Finding new jobs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/ 6 / 13 months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differences in retraining time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Hiring speed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 / 2.5 / 1 months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 to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European economy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unemployment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 job-finding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 quits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wage stickiness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</a:t>
            </a:r>
            <a:br/>
            <a:r>
              <a:rPr lang="en-US" dirty="0" sz="2000"/>
              <a:t>Labour Market in 2030 (relative to no-AI)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US Economy</a:t>
            </a:r>
            <a:r>
              <a:rPr/>
              <a:t>: the paper as published</a:t>
            </a:r>
          </a:p>
          <a:p>
            <a:pPr lvl="0"/>
            <a:r>
              <a:rPr lang="en-US" dirty="0">
                <a:solidFill>
                  <a:srgbClr val="FF712C"/>
                </a:solidFill>
              </a:rPr>
              <a:t>EU</a:t>
            </a:r>
            <a:r>
              <a:rPr lang="en-US" dirty="0">
                <a:solidFill>
                  <a:srgbClr val="FF712C"/>
                </a:solidFill>
              </a:rPr>
              <a:t> </a:t>
            </a:r>
            <a:r>
              <a:rPr lang="en-US" dirty="0">
                <a:solidFill>
                  <a:srgbClr val="FF712C"/>
                </a:solidFill>
              </a:rPr>
              <a:t>Economy</a:t>
            </a:r>
            <a:r>
              <a:rPr lang="en-US" dirty="0">
                <a:solidFill>
                  <a:srgbClr val="FF712C"/>
                </a:solidFill>
              </a:rPr>
              <a:t> </a:t>
            </a:r>
            <a:r>
              <a:rPr lang="en-US" dirty="0">
                <a:solidFill>
                  <a:srgbClr val="FF712C"/>
                </a:solidFill>
              </a:rPr>
              <a:t>w.</a:t>
            </a:r>
            <a:r>
              <a:rPr lang="en-US" dirty="0">
                <a:solidFill>
                  <a:srgbClr val="FF712C"/>
                </a:solidFill>
              </a:rPr>
              <a:t> </a:t>
            </a:r>
            <a:r>
              <a:rPr lang="en-US" dirty="0">
                <a:solidFill>
                  <a:srgbClr val="FF712C"/>
                </a:solidFill>
              </a:rPr>
              <a:t>US</a:t>
            </a:r>
            <a:r>
              <a:rPr lang="en-US" dirty="0">
                <a:solidFill>
                  <a:srgbClr val="FF712C"/>
                </a:solidFill>
              </a:rPr>
              <a:t> </a:t>
            </a:r>
            <a:r>
              <a:rPr lang="en-US" dirty="0">
                <a:solidFill>
                  <a:srgbClr val="FF712C"/>
                </a:solidFill>
              </a:rPr>
              <a:t>Scenarios</a:t>
            </a:r>
            <a:r>
              <a:rPr/>
              <a:t>: European labour market w. US Scenarios</a:t>
            </a:r>
          </a:p>
          <a:p>
            <a:pPr lvl="0"/>
            <a:r>
              <a:rPr lang="en-US" dirty="0">
                <a:solidFill>
                  <a:srgbClr val="003399"/>
                </a:solidFill>
              </a:rPr>
              <a:t>EU</a:t>
            </a:r>
            <a:r>
              <a:rPr lang="en-US" dirty="0">
                <a:solidFill>
                  <a:srgbClr val="003399"/>
                </a:solidFill>
              </a:rPr>
              <a:t> </a:t>
            </a:r>
            <a:r>
              <a:rPr lang="en-US" dirty="0">
                <a:solidFill>
                  <a:srgbClr val="003399"/>
                </a:solidFill>
              </a:rPr>
              <a:t>Economy</a:t>
            </a:r>
            <a:r>
              <a:rPr lang="en-US" dirty="0">
                <a:solidFill>
                  <a:srgbClr val="003399"/>
                </a:solidFill>
              </a:rPr>
              <a:t> </a:t>
            </a:r>
            <a:r>
              <a:rPr lang="en-US" dirty="0">
                <a:solidFill>
                  <a:srgbClr val="003399"/>
                </a:solidFill>
              </a:rPr>
              <a:t>w.</a:t>
            </a:r>
            <a:r>
              <a:rPr lang="en-US" dirty="0">
                <a:solidFill>
                  <a:srgbClr val="003399"/>
                </a:solidFill>
              </a:rPr>
              <a:t> </a:t>
            </a:r>
            <a:r>
              <a:rPr lang="en-US" dirty="0">
                <a:solidFill>
                  <a:srgbClr val="003399"/>
                </a:solidFill>
              </a:rPr>
              <a:t>EMPL</a:t>
            </a:r>
            <a:r>
              <a:rPr lang="en-US" dirty="0">
                <a:solidFill>
                  <a:srgbClr val="003399"/>
                </a:solidFill>
              </a:rPr>
              <a:t> </a:t>
            </a:r>
            <a:r>
              <a:rPr lang="en-US" dirty="0">
                <a:solidFill>
                  <a:srgbClr val="003399"/>
                </a:solidFill>
              </a:rPr>
              <a:t>Scenarios</a:t>
            </a:r>
            <a:r>
              <a:rPr/>
              <a:t>: European labour market w. our scenarios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GDP</a:t>
            </a:r>
          </a:p>
        </p:txBody>
      </p:sp>
      <p:pic>
        <p:nvPicPr>
          <p:cNvPr descr="../output/figures/gd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Cognitive wage</a:t>
            </a:r>
          </a:p>
        </p:txBody>
      </p:sp>
      <p:pic>
        <p:nvPicPr>
          <p:cNvPr descr="../output/figures/wage_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Unemployment</a:t>
            </a:r>
          </a:p>
        </p:txBody>
      </p:sp>
      <p:pic>
        <p:nvPicPr>
          <p:cNvPr descr="../output/figures/unemploy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Cognitive employment</a:t>
            </a:r>
          </a:p>
        </p:txBody>
      </p:sp>
      <p:pic>
        <p:nvPicPr>
          <p:cNvPr descr="../output/figures/employment_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Labour share</a:t>
            </a:r>
          </a:p>
        </p:txBody>
      </p:sp>
      <p:pic>
        <p:nvPicPr>
          <p:cNvPr descr="../output/figures/labor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if Europe caught up on adoption?</a:t>
            </a:r>
          </a:p>
        </p:txBody>
      </p:sp>
      <p:pic>
        <p:nvPicPr>
          <p:cNvPr descr="../output/figures/converg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Same scenarios in European labour market: </a:t>
            </a:r>
            <a:r>
              <a:rPr b="1"/>
              <a:t>similar gains, more unemployment</a:t>
            </a:r>
          </a:p>
          <a:p>
            <a:pPr lvl="1"/>
            <a:r>
              <a:rPr/>
              <a:t>stickier wages + slower hiring turn wage cuts into job losses</a:t>
            </a:r>
          </a:p>
          <a:p>
            <a:pPr lvl="0"/>
            <a:r>
              <a:rPr/>
              <a:t>Different European scenarios: </a:t>
            </a:r>
            <a:r>
              <a:rPr b="1"/>
              <a:t>smaller gains, smaller disruption</a:t>
            </a:r>
          </a:p>
          <a:p>
            <a:pPr lvl="1"/>
            <a:r>
              <a:rPr/>
              <a:t>more new tasks and less automation protect cognitive workers</a:t>
            </a:r>
          </a:p>
          <a:p>
            <a:pPr lvl="1"/>
            <a:r>
              <a:rPr/>
              <a:t>most of the gap is adoption: Europe starts lower and does not catch up</a:t>
            </a:r>
          </a:p>
          <a:p>
            <a:pPr lvl="0"/>
            <a:r>
              <a:rPr/>
              <a:t>Adoption as an important lever</a:t>
            </a:r>
          </a:p>
          <a:p>
            <a:pPr lvl="1"/>
            <a:r>
              <a:rPr/>
              <a:t>catching up with US adoption by 2030: gains up by two thirds, cognitive wages still rise</a:t>
            </a:r>
          </a:p>
          <a:p>
            <a:pPr lvl="1"/>
            <a:r>
              <a:rPr/>
              <a:t>but in the extreme scenario unemployment then approaches the US level</a:t>
            </a:r>
          </a:p>
          <a:p>
            <a:pPr lvl="1"/>
            <a:r>
              <a:rPr/>
              <a:t>ongoing work on why adoption differs so much across countries</a:t>
            </a:r>
          </a:p>
          <a:p>
            <a:pPr lvl="0"/>
            <a:r>
              <a:rPr/>
              <a:t>These parameters are uncertain and open for debate</a:t>
            </a:r>
          </a:p>
          <a:p>
            <a:pPr lvl="1"/>
            <a:r>
              <a:rPr/>
              <a:t>automation share, new tasks and the adoption path are judgement calls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 lang="en-US" dirty="0"/>
              <a:t>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dirty="0" sz="4400">
                <a:solidFill>
                  <a:srgbClr val="003399"/>
                </a:solidFill>
              </a:rPr>
              <a:t>Thank you</a:t>
            </a:r>
          </a:p>
          <a:p>
            <a:pPr lvl="0" indent="0" marL="0">
              <a:buNone/>
            </a:pPr>
            <a:r>
              <a:rPr lang="en-US" dirty="0" sz="4400"/>
              <a:t> </a:t>
            </a:r>
          </a:p>
          <a:p>
            <a:pPr lvl="0" indent="0" marL="0">
              <a:buNone/>
            </a:pPr>
            <a:r>
              <a:rPr lang="en-US" dirty="0" b="1" sz="1300">
                <a:solidFill>
                  <a:srgbClr val="003399"/>
                </a:solidFill>
              </a:rPr>
              <a:t>©</a:t>
            </a:r>
            <a:r>
              <a:rPr lang="en-US" dirty="0" b="1" sz="1300">
                <a:solidFill>
                  <a:srgbClr val="003399"/>
                </a:solidFill>
              </a:rPr>
              <a:t> </a:t>
            </a:r>
            <a:r>
              <a:rPr lang="en-US" dirty="0" b="1" sz="1300">
                <a:solidFill>
                  <a:srgbClr val="003399"/>
                </a:solidFill>
              </a:rPr>
              <a:t>European</a:t>
            </a:r>
            <a:r>
              <a:rPr lang="en-US" dirty="0" b="1" sz="1300">
                <a:solidFill>
                  <a:srgbClr val="003399"/>
                </a:solidFill>
              </a:rPr>
              <a:t> </a:t>
            </a:r>
            <a:r>
              <a:rPr lang="en-US" dirty="0" b="1" sz="1300">
                <a:solidFill>
                  <a:srgbClr val="003399"/>
                </a:solidFill>
              </a:rPr>
              <a:t>Union</a:t>
            </a:r>
            <a:r>
              <a:rPr lang="en-US" dirty="0" b="1" sz="1300">
                <a:solidFill>
                  <a:srgbClr val="003399"/>
                </a:solidFill>
              </a:rPr>
              <a:t> </a:t>
            </a:r>
            <a:r>
              <a:rPr lang="en-US" dirty="0" b="1" sz="1300">
                <a:solidFill>
                  <a:srgbClr val="003399"/>
                </a:solidFill>
              </a:rPr>
              <a:t>2026</a:t>
            </a:r>
          </a:p>
          <a:p>
            <a:pPr lvl="0" indent="0" marL="0">
              <a:buNone/>
            </a:pPr>
            <a:r>
              <a:rPr lang="en-US" dirty="0" sz="1300">
                <a:solidFill>
                  <a:srgbClr val="003399"/>
                </a:solidFill>
              </a:rPr>
              <a:t>Unless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otherwise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noted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reuse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of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this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presentation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is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authorised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under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>
                <a:hlinkClick r:id="rId3"/>
              </a:rPr>
              <a:t>​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CC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 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BY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 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4.0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license.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For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any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use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or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reproduction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of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elements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that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are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not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owned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by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EU,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permission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may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need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to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be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sought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directly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from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respective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right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holders.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3399"/>
      </a:hlink>
      <a:folHlink>
        <a:srgbClr val="00339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Economic scenarios for transformative AI</dc:title>
  <dc:creator>;  ; </dc:creator>
  <cp:keywords/>
  <dcterms:created xsi:type="dcterms:W3CDTF">2026-10-27T16:18:59Z</dcterms:created>
  <dcterms:modified xsi:type="dcterms:W3CDTF">2026-10-27T16:18:59Z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revealjs-plugins">
    <vt:lpwstr/>
  </property>
  <property fmtid="{D5CDD505-2E9C-101B-9397-08002B2CF9AE}" pid="10" name="toc-title">
    <vt:lpwstr>Table of contents</vt:lpwstr>
  </property>
</Properties>
</file>